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685800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1413"/>
                </a:solidFill>
                <a:latin typeface="Arial"/>
              </a:rPr>
              <a:t>D3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1554480"/>
            <a:ext cx="713232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600" b="0">
                <a:solidFill>
                  <a:srgbClr val="141413"/>
                </a:solidFill>
                <a:latin typeface="Times New Roman"/>
              </a:rPr>
              <a:t>Thiết kế</a:t>
            </a:r>
          </a:p>
          <a:p>
            <a:pPr algn="l">
              <a:spcAft>
                <a:spcPts val="0"/>
              </a:spcAft>
            </a:pPr>
            <a:r>
              <a:rPr sz="7600" b="0">
                <a:solidFill>
                  <a:srgbClr val="C96442"/>
                </a:solidFill>
                <a:latin typeface="Times New Roman"/>
              </a:rPr>
              <a:t>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114800"/>
            <a:ext cx="68580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3D3D3A"/>
                </a:solidFill>
                <a:latin typeface="Arial"/>
              </a:rPr>
              <a:t>WEBSITE PORTFOLIO NỘI THẤT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3D3D3A"/>
                </a:solidFill>
                <a:latin typeface="Arial"/>
              </a:rPr>
              <a:t>TÍCH HỢP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54864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6442"/>
                </a:solidFill>
                <a:latin typeface="Arial"/>
              </a:rPr>
              <a:t>Bộ sơ đồ phân tích và thiết kế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82880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965960"/>
            <a:ext cx="2834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41413"/>
                </a:solidFill>
                <a:latin typeface="Arial"/>
              </a:rPr>
              <a:t>Mục tiêu: mô tả hệ thống trước khi xây dựng phần mềm.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566160"/>
            <a:ext cx="3108960" cy="146304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3703320"/>
            <a:ext cx="2834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41413"/>
                </a:solidFill>
                <a:latin typeface="Arial"/>
              </a:rPr>
              <a:t>Nội dung: chức năng, quy trình, dữ liệu và các lớp của hệ thống.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Ai thực hiện công việc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45720" cy="5486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D3D3A"/>
                </a:solidFill>
                <a:latin typeface="Arial"/>
              </a:rPr>
              <a:t>Khách: tìm, xem dự án, lưu bộ sưu tập, hỏi trợ lý và xin ước tính chi phí.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45720" cy="5486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D3D3A"/>
                </a:solidFill>
                <a:latin typeface="Arial"/>
              </a:rPr>
              <a:t>Kiến trúc sư: tải ảnh, xác nhận nhãn, gắn hotspot món đồ.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37560"/>
            <a:ext cx="45720" cy="5486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D3D3A"/>
                </a:solidFill>
                <a:latin typeface="Arial"/>
              </a:rPr>
              <a:t>NV nội dung: biên tập mô tả, tối ưu SEO, quản lý taxonomy và tri thức trợ lý.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45720" cy="5486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D3D3A"/>
                </a:solidFill>
                <a:latin typeface="Arial"/>
              </a:rPr>
              <a:t>Quản trị viên: quản lý tài khoản, phân quyền và cấu hình hệ thống.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45720" cy="5486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D3D3A"/>
                </a:solidFill>
                <a:latin typeface="Arial"/>
              </a:rPr>
              <a:t>Đội tư vấn người thật: nhận thông báo lead và xử lý ngoài hệ thống.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Quy trình từ đăng dự án đến chốt khách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55448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41413"/>
                </a:solidFill>
                <a:latin typeface="Arial"/>
              </a:rPr>
              <a:t>Tạo và xuất bản nội dung  →  Thu hút và tương tác  →  Chuyển đổi khách  →  Sau bán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51760"/>
            <a:ext cx="1005840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8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Kiến trúc sư tải ảnh, AI gợi ý nhãn và mô tả nháp.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Khách xem, lưu và hỏi trợ lý; hành vi chỉ được ghi khi khách đồng ý.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Khách để lại thông tin thì đội tư vấn người thật liên hệ.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Nếu khách để lại thông tin thì sao?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1060704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Hệ thống tạo khách tiềm năng và gắn hồ sơ hành vi.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Hệ thống gửi thông báo cho đội tư vấn người thật.</a:t>
            </a:r>
          </a:p>
          <a:p>
            <a:pPr algn="l">
              <a:spcAft>
                <a:spcPts val="1600"/>
              </a:spcAft>
            </a:pPr>
            <a:r>
              <a:rPr sz="2400" b="0">
                <a:solidFill>
                  <a:srgbClr val="3D3D3A"/>
                </a:solidFill>
                <a:latin typeface="Arial"/>
              </a:rPr>
              <a:t>• Đội tư vấn liên hệ và theo dõi ngoài hệ thống; phần mềm không chấm điểm hay phân công.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45720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E5D59"/>
                </a:solidFill>
                <a:latin typeface="Arial"/>
              </a:rPr>
              <a:t>VÍ DỤ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937760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64F33"/>
                </a:solidFill>
                <a:latin typeface="Arial"/>
              </a:rPr>
              <a:t>Khách gửi form  →  Hệ thống lưu lead  →  Thông báo đội tư vấn  →  Đội tư vấn liên hệ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Hệ thống được tổ chức như thế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202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6442"/>
                </a:solidFill>
                <a:latin typeface="Times New Roman"/>
              </a:rPr>
              <a:t>Tiếp nhận yêu cầu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97480"/>
            <a:ext cx="27432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Website và trợ lý nhận yêu cầu của khách và nhân sự.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9935" y="3063240"/>
            <a:ext cx="365760" cy="320040"/>
          </a:xfrm>
          <a:prstGeom prst="rightArrow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9202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6442"/>
                </a:solidFill>
                <a:latin typeface="Times New Roman"/>
              </a:rPr>
              <a:t>Xử lý nghiệp vụ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697480"/>
            <a:ext cx="27432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Tìm kiếm, gắn nhãn AI, hỏi đáp và phân tích.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63256" y="3063240"/>
            <a:ext cx="365760" cy="320040"/>
          </a:xfrm>
          <a:prstGeom prst="rightArrow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2167" y="1737360"/>
            <a:ext cx="3200400" cy="3017520"/>
          </a:xfrm>
          <a:prstGeom prst="roundRect">
            <a:avLst>
              <a:gd name="adj" fmla="val 6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7" y="1920240"/>
            <a:ext cx="2743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96442"/>
                </a:solidFill>
                <a:latin typeface="Times New Roman"/>
              </a:rPr>
              <a:t>Lưu trữ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2697480"/>
            <a:ext cx="27432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Dự án, taxonomy, chỉ mục, bộ sưu tập, hành vi, hội thoại.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Các nhóm chức năng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KHÁM PHÁ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05740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9456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Lọc, sắp xếp, xem chi tiết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Tìm bằng ảnh hoặc mô tả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Trắc nghiệm phong cách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002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TƯƠNG TÁC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05740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19456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Bộ sưu tập và brief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Trợ lý hỏi đáp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Ước tính chi phí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16002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NỘI DUNG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05740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7" y="219456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Tải ảnh, AI gắn nhãn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Duyệt và xuất bản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Taxonomy, tri thức trợ lý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79476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KHÁCH TIỀM NĂNG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425196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38912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Tiếp nhận lead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Gắn hồ sơ hành vi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Thông báo đội tư vấn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79476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PHÂN TÍCH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425196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438912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Ghi hành vi có đồng ý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Bảng điều khiển xu hướng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Báo cáo định kỳ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7" y="379476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442"/>
                </a:solidFill>
                <a:latin typeface="Arial"/>
              </a:rPr>
              <a:t>NỀN TẢNG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4251960"/>
            <a:ext cx="548640" cy="27432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7" y="4389120"/>
            <a:ext cx="34747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Tài khoản, phân quyền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Chỉ mục vector, SEO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3D3D3A"/>
                </a:solidFill>
                <a:latin typeface="Arial"/>
              </a:rPr>
              <a:t>Đồng ý thu thập dữ liệu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Hệ thống cần lưu những dữ liệu nào?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15544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Dự 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544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5544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Không gian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15544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5544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24688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4688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Taxonomy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4688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24688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Chỉ mục 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36408" y="24688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24688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Bộ sưu tập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" y="33832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3832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Khách tiềm năng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3832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3832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Sự kiện hành vi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36408" y="33832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33832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Hội thoại trợ lý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" y="42976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42976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Tài khoản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2976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42976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Phân quyền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6408" y="429768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8" y="4297680"/>
            <a:ext cx="34290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141413"/>
                </a:solidFill>
                <a:latin typeface="Arial"/>
              </a:rPr>
              <a:t>Tri thức trợ lý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539496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A64F33"/>
                </a:solidFill>
                <a:latin typeface="Times New Roman"/>
              </a:rPr>
              <a:t>Hồ sơ hành vi chỉ được lưu khi khách đồng 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Sơ đồ chức năng (BFD)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Hệ thống chia thành 6 nhóm chức năng, mỗi nhóm có các chức năng con.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3D3D3A"/>
                </a:solidFill>
                <a:latin typeface="Arial"/>
              </a:rPr>
              <a:t>Nhóm 4 chỉ tiếp nhận lead và thông báo cho đội tư vấn người thật.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Luồng nghiệp vụ tổng thể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Đi từ lúc kiến trúc sư tải ảnh đến sau bàn giao, qua 6 vai trò.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3D3D3A"/>
                </a:solidFill>
                <a:latin typeface="Arial"/>
              </a:rPr>
              <a:t>Ảnh thực tế sau bàn giao quay lại làm nội dung mới; bảng điều khiển định hướng nội dung tiếp theo.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Use case tổng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Năm nhóm tác nhân dùng hệ thống; mỗi nhóm có một sơ đồ riêng.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3D3D3A"/>
                </a:solidFill>
                <a:latin typeface="Arial"/>
              </a:rPr>
              <a:t>Xử lý lead do đội tư vấn người thật làm ngoài hệ thống.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DFD mức 0: sơ đồ ngữ cảnh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Hệ thống là một khối, trao đổi dữ liệu với 7 tác nhân ngoài.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DFD mức 1: 6 tiến trình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Sáu tiến trình chính và bảy kho dữ liệu D1 đến D7.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Class: tổng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pic>
        <p:nvPicPr>
          <p:cNvPr id="7" name="Picture 6" descr="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00" y="1508760"/>
            <a:ext cx="70819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1508760"/>
            <a:ext cx="2834640" cy="4526280"/>
          </a:xfrm>
          <a:prstGeom prst="roundRect">
            <a:avLst>
              <a:gd name="adj" fmla="val 5000"/>
            </a:avLst>
          </a:prstGeom>
          <a:solidFill>
            <a:srgbClr val="FAF9F5"/>
          </a:solidFill>
          <a:ln w="12700">
            <a:solidFill>
              <a:srgbClr val="E2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508760"/>
            <a:ext cx="2834640" cy="6400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737360"/>
            <a:ext cx="246888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41413"/>
                </a:solidFill>
                <a:latin typeface="Times New Roman"/>
              </a:rPr>
              <a:t>Các lớp chính của hệ thống và quan hệ giữa chúng.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84048"/>
            <a:ext cx="10607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141413"/>
                </a:solidFill>
                <a:latin typeface="Times New Roman"/>
              </a:rPr>
              <a:t>Sơ đồ trình tự và sơ đồ hoạt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43000"/>
            <a:ext cx="594360" cy="41148"/>
          </a:xfrm>
          <a:prstGeom prst="rect">
            <a:avLst/>
          </a:prstGeom>
          <a:solidFill>
            <a:srgbClr val="C96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6291072"/>
            <a:ext cx="10607040" cy="9144"/>
          </a:xfrm>
          <a:prstGeom prst="rect">
            <a:avLst/>
          </a:prstGeom>
          <a:solidFill>
            <a:srgbClr val="E2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63550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87867F"/>
                </a:solidFill>
                <a:latin typeface="Arial"/>
              </a:rPr>
              <a:t>D3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6442"/>
                </a:solidFill>
                <a:latin typeface="Arial"/>
              </a:rPr>
              <a:t>18 SƠ ĐỒ TRÌNH TỰ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03120"/>
            <a:ext cx="51206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Khám phá: lọc, tìm bằng ảnh hoặc mô tả, trắc nghiệm phong cách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Tương tác: bộ sưu tập, trợ lý hỏi đáp, ước tính chi phí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Nội dung và nền tảng: gắn nhãn, xuất bản, taxonomy, phân quyền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Lead và phân tích: form liên hệ, ghi hành vi, báo cáo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6442"/>
                </a:solidFill>
                <a:latin typeface="Arial"/>
              </a:rPr>
              <a:t>8 SƠ ĐỒ HOẠT ĐỘNG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12064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Xuất bản dự án (QT-01)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Lưu và chuyển khách tiềm năng (QT-02)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Thu thập và phân tích xu hướng (QT-06)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3D3D3A"/>
                </a:solidFill>
                <a:latin typeface="Arial"/>
              </a:rPr>
              <a:t>Hỏi đáp trợ lý, tìm bằng ảnh, ước tính chi phí, đồng ý dữ liệu, lưu ảnh và gửi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39496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D3D3A"/>
                </a:solidFill>
                <a:latin typeface="Arial"/>
              </a:rPr>
              <a:t>Các sơ đồ chi tiết nằm trong bộ file .drawio của dự án.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64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2103120"/>
            <a:ext cx="91440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0">
                <a:solidFill>
                  <a:srgbClr val="FFFFFF"/>
                </a:solidFill>
                <a:latin typeface="Times New Roman"/>
              </a:rPr>
              <a:t>Cảm ơn</a:t>
            </a:r>
          </a:p>
          <a:p>
            <a:pPr algn="l">
              <a:spcAft>
                <a:spcPts val="0"/>
              </a:spcAft>
            </a:pPr>
            <a:r>
              <a:rPr sz="7200" b="0">
                <a:solidFill>
                  <a:srgbClr val="F6D6C8"/>
                </a:solidFill>
                <a:latin typeface="Times New Roman"/>
              </a:rPr>
              <a:t>đã xem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4754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9F5"/>
                </a:solidFill>
                <a:latin typeface="Arial"/>
              </a:rPr>
              <a:t>Bản .drawio gốc nằm trong thư mục diagrams của repo và trên Drive "project 1".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